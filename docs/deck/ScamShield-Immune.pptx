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Held (hold_verify)</c:v>
                </c:pt>
              </c:strCache>
            </c:strRef>
          </c:tx>
          <c:spPr>
            <a:solidFill>
              <a:srgbClr val="34D39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UPI</c:v>
                </c:pt>
                <c:pt idx="1">
                  <c:v>IMPS</c:v>
                </c:pt>
                <c:pt idx="2">
                  <c:v>NEFT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Flagged (step-up or hold)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UPI</c:v>
                </c:pt>
                <c:pt idx="1">
                  <c:v>IMPS</c:v>
                </c:pt>
                <c:pt idx="2">
                  <c:v>NEFT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0.016</c:v>
                </c:pt>
                <c:pt idx="1">
                  <c:v>0.371</c:v>
                </c:pt>
                <c:pt idx="2">
                  <c:v>0.828</c:v>
                </c:pt>
              </c:numCache>
            </c:numRef>
          </c:val>
        </c:ser>
        <c:dLbls>
          <c:numFmt formatCode="0.000&quot;%&quot;" sourceLinked="0"/>
          <c:txPr>
            <a:bodyPr/>
            <a:lstStyle/>
            <a:p>
              <a:pPr>
                <a:defRPr sz="1000">
                  <a:solidFill>
                    <a:srgbClr val="E8ECF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446"/>
            </a:solidFill>
          </a:ln>
        </c:spPr>
        <c:txPr>
          <a:bodyPr/>
          <a:lstStyle/>
          <a:p>
            <a:pPr>
              <a:defRPr sz="1100">
                <a:solidFill>
                  <a:srgbClr val="E8ECF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2A3446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FB0C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8ECF4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9FB0C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Recall, all scam txns</c:v>
                </c:pt>
              </c:strCache>
            </c:strRef>
          </c:tx>
          <c:spPr>
            <a:solidFill>
              <a:srgbClr val="22D3E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No call signal</c:v>
                </c:pt>
                <c:pt idx="2">
                  <c:v>Degraded call</c:v>
                </c:pt>
                <c:pt idx="3">
                  <c:v>No antibody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82.647</c:v>
                </c:pt>
                <c:pt idx="1">
                  <c:v>81.618</c:v>
                </c:pt>
                <c:pt idx="2">
                  <c:v>82.206</c:v>
                </c:pt>
                <c:pt idx="3">
                  <c:v>79.706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Victim-transfer recall</c:v>
                </c:pt>
              </c:strCache>
            </c:strRef>
          </c:tx>
          <c:spPr>
            <a:solidFill>
              <a:srgbClr val="A78BF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No call signal</c:v>
                </c:pt>
                <c:pt idx="2">
                  <c:v>Degraded call</c:v>
                </c:pt>
                <c:pt idx="3">
                  <c:v>No antibody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98.087</c:v>
                </c:pt>
                <c:pt idx="2">
                  <c:v>99.18</c:v>
                </c:pt>
                <c:pt idx="3">
                  <c:v>94.535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E8ECF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446"/>
            </a:solidFill>
          </a:ln>
        </c:spPr>
        <c:txPr>
          <a:bodyPr/>
          <a:lstStyle/>
          <a:p>
            <a:pPr>
              <a:defRPr sz="1100">
                <a:solidFill>
                  <a:srgbClr val="E8ECF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50.0"/>
        </c:scaling>
        <c:delete val="0"/>
        <c:axPos val="l"/>
        <c:majorGridlines>
          <c:spPr>
            <a:ln w="6350">
              <a:solidFill>
                <a:srgbClr val="2A344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FB0C8"/>
                </a:solidFill>
              </a:defRPr>
            </a:pPr>
          </a:p>
        </c:txPr>
        <c:crossAx val="-2068027336"/>
        <c:crosses val="autoZero"/>
        <c:majorUnit val="10.0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8ECF4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9FB0C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only</c:v>
                </c:pt>
              </c:strCache>
            </c:strRef>
          </c:tx>
          <c:spPr>
            <a:solidFill>
              <a:srgbClr val="F43F5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Step-up</c:v>
                </c:pt>
                <c:pt idx="2">
                  <c:v>Hold-verify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antibody</c:v>
                </c:pt>
              </c:strCache>
            </c:strRef>
          </c:tx>
          <c:spPr>
            <a:solidFill>
              <a:srgbClr val="34D39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Step-up</c:v>
                </c:pt>
                <c:pt idx="2">
                  <c:v>Hold-verify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E8ECF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446"/>
            </a:solidFill>
          </a:ln>
        </c:spPr>
        <c:txPr>
          <a:bodyPr/>
          <a:lstStyle/>
          <a:p>
            <a:pPr>
              <a:defRPr sz="1100">
                <a:solidFill>
                  <a:srgbClr val="E8ECF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l"/>
        <c:majorGridlines>
          <c:spPr>
            <a:ln w="6350">
              <a:solidFill>
                <a:srgbClr val="2A344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FB0C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8ECF4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9FB0C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Victim-transfer recall</c:v>
                </c:pt>
              </c:strCache>
            </c:strRef>
          </c:tx>
          <c:spPr>
            <a:ln w="31750">
              <a:solidFill>
                <a:srgbClr val="A78BFA"/>
              </a:solidFill>
            </a:ln>
          </c:spPr>
          <c:marker>
            <c:spPr>
              <a:solidFill>
                <a:srgbClr val="A78BFA"/>
              </a:solidFill>
              <a:ln>
                <a:solidFill>
                  <a:srgbClr val="A78BFA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None</c:v>
                </c:pt>
                <c:pt idx="1">
                  <c:v>0 s</c:v>
                </c:pt>
                <c:pt idx="2">
                  <c:v>60 s</c:v>
                </c:pt>
                <c:pt idx="3">
                  <c:v>5 min</c:v>
                </c:pt>
                <c:pt idx="4">
                  <c:v>15 min</c:v>
                </c:pt>
                <c:pt idx="5">
                  <c:v>1 h</c:v>
                </c:pt>
                <c:pt idx="6">
                  <c:v>6 h</c:v>
                </c:pt>
                <c:pt idx="7">
                  <c:v>24 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94.535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99.18</c:v>
                </c:pt>
                <c:pt idx="7">
                  <c:v>94.535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E8ECF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446"/>
            </a:solidFill>
          </a:ln>
        </c:spPr>
        <c:txPr>
          <a:bodyPr/>
          <a:lstStyle/>
          <a:p>
            <a:pPr>
              <a:defRPr sz="1100">
                <a:solidFill>
                  <a:srgbClr val="E8ECF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4.0"/>
          <c:min val="90.0"/>
        </c:scaling>
        <c:delete val="0"/>
        <c:axPos val="l"/>
        <c:majorGridlines>
          <c:spPr>
            <a:ln w="6350">
              <a:solidFill>
                <a:srgbClr val="2A344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FB0C8"/>
                </a:solidFill>
              </a:defRPr>
            </a:pPr>
          </a:p>
        </c:tx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9FB0C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one sentence. Digital-arrest scams move money in minutes and every bank sees only its own customers; this platform makes one bank's detection protect all of them, before the money moves.</a:t>
            </a:r>
          </a:p>
          <a:p/>
          <a:p>
            <a:r>
              <a:t>Say up front: everything in this talk is simulator data and real service code. The hero case is constructed.</a:t>
            </a:r>
          </a:p>
          <a:p/>
          <a:p>
            <a:r>
              <a:t>Sources: README.md (concept and quickstart), docs/architecture.md, docs/demo-script.md. Screenshot: docs/screenshots/player-live-1440x900-dark.png.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scale is the challenge statement's: 1.14 million cybercrime complaints in India in 2023, and digital-arrest scams above Rs 1,776 crore in the first nine months of 2024. Investigation after a complaint starts when the money is already gone; and a mule account that has already hurt a customer of bank A is invisible to bank B.</a:t>
            </a:r>
          </a:p>
          <a:p/>
          <a:p>
            <a:r>
              <a:t>Sources: both figures are quoted from the challenge statement as supplied with the brief; they are NOT in the repository's files, so they carry no repo citation. The framing sentence is from docs/superpowers/specs/2026-10-07-scam-immune-system-design.md section 1 (Intent).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biology metaphor kept literal. One detection becomes an antibody, a keyed hash of the mule account, applied at every bank. The hub never holds the key and never sees names or account numbers. Holds are verify steps, not blocks; they never auto-release or auto-block at the deadline.</a:t>
            </a:r>
          </a:p>
          <a:p/>
          <a:p>
            <a:r>
              <a:t>Sources: README.md (How it works), docs/architecture.md sections 3 and 4, services/antibody_hub/README.md (threat model and key handling), services/txn_guard/README.md (hold-and-verify).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reflex is per-transaction hold-and-verify; memory shares antibodies as keyed hashes; brain finds rings and simulates a takedown. The citizen shield scores a message in plain language in four languages. Everything the services decide is appended to a ledger that never sits on the hot path.</a:t>
            </a:r>
          </a:p>
          <a:p/>
          <a:p>
            <a:r>
              <a:t>Sources: README.md (architecture diagram and services table), docs/architecture.md sections 1 to 5, services/*/README.md. Counterfeit-currency detection was dropped by decision (spec section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(matches docs/demo-script.md, seed 1, cinematic pacing): victim A gets a scam call; call-guard flags it; her transfer to a new payee is held; an analyst confirms the mule; the antibody is shared; victim B at another bank pays the same mule 90 s later with an unflagged call and is held on ANTIBODY_MATCH; the ring cashes out on the map; evidence is sealed. Step offsets at 1x: held +24.7 s, confirmed and shared +27.2 s, bank B blocks +36.7 s, cash-out +51.2 s, sealed +71.1 s.</a:t>
            </a:r>
          </a:p>
          <a:p/>
          <a:p>
            <a:r>
              <a:t>Be explicit that this is a constructed hard case (seasoned mule, off-script call).</a:t>
            </a:r>
          </a:p>
          <a:p/>
          <a:p>
            <a:r>
              <a:t>Sources: docs/demo-script.md (Timings table), README.md (The story in eight steps), docs/screenshots/player-live-1440x900-dark.png and player-finale-1440x900-dark.png.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the detection code is real and runs in-process; the world it sees is synthetic. No real telecom or bank integration exists. The demo is one process over an in-memory bus; the multi-container compose stack exists but was NOT run (no Docker daemon).</a:t>
            </a:r>
          </a:p>
          <a:p/>
          <a:p>
            <a:r>
              <a:t>Sources: web-console/src/lib/about/architecture.ts (REAL_VS_SIMULATED, shown on the console's /about page), README.md (Two packagings, What was and was not exercised),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seed 42 simulator run, 21,736 benign and 680 scam transactions. Precision 100% [99.3, 100.0] because zero benign transactions were held (upper bound of the false-positive rate 0.018%); recall 82.6% [79.6, 85.3]. Precision depends on prevalence: the run is 3.03%, real prevalence is far lower (prevalence table in the report). Per rail: held benign is 0.000% everywhere, but flagged-benign (step-up or hold) is UPI 0.016%, IMPS 0.37%, NEFT 0.83%. NEFT is the worst rail and the simulator has no NEFT scams, so its figure is benign traffic only and its thresholds are hand-scaled. Ablation: removing antibodies drops victim-transfer recall from 100% to 94.5%; no call signal 98.1%; degraded call signal 99.2%. Lead time: 5 of 5 campaigns detected before the 10th victim, mean +6h29m13s at the first hold; few campaigns, wide uncertainty.</a:t>
            </a:r>
          </a:p>
          <a:p/>
          <a:p>
            <a:r>
              <a:t>All chart values are read from services/demo_server/demo_server/data/benchmark_summary.json at build time (headline, per_rail, ablations); lead time and prevalence from docs/benchmark_report.md. Simulator data, same generators as training, disjoint seeds.</a:t>
            </a:r>
          </a:p>
          <a:p/>
          <a:p>
            <a:r>
              <a:t>Note: the ablation axis starts at 50 so the differences are visible; say so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we built the hero to be the hardest case, not the typical one: a seasoned mule (68 to 398 days old, so no young-account signal) and an off-script call that call-guard misses. Across 40 hero seeds the model alone allowed victim B's first transfer 39 times and stepped it up once; with the antibody all 40 were held. The 40 seeds vary mule age, amounts and timing, not the script. Right chart: the confirmation delay is a free parameter. Victims in the simulator are minutes to hours apart, so delays up to 1 h cost nothing; at 6 h recall is 99.2%; at 24 h it is back to 94.5% and no antibody matches. This is the honest bound on 'detect once, protect everywhere': an antibody has to land before the next victim pays.</a:t>
            </a:r>
          </a:p>
          <a:p/>
          <a:p>
            <a:r>
              <a:t>Also say: antibody poisoning, false confirmations and merchant antibodies are not simulated; benign antibody matches = 0 holds by construction.</a:t>
            </a:r>
          </a:p>
          <a:p/>
          <a:p>
            <a:r>
              <a:t>Sources: benchmark_summary.json keys hero (model_only, with_antibody, seeds) and sensitivity; docs/benchmark_report.md (Antibody stage, Limitations); docs/judging-map.md.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every decision is appended to a hash-chained ledger with signed checkpoints; a case package ships its own verify.py, run isolated (python -I -S) and pinned to the ledger public key. The screenshot shows PASS_PINNED. Integrity is not truthfulness: it proves what the services recorded, in what order, unaltered. We make no admissibility claim; the Section 63 certificate is a template for counsel. A DB superuser can still edit rows; that is made detectable, not prevented. No external timestamping.</a:t>
            </a:r>
          </a:p>
          <a:p/>
          <a:p>
            <a:r>
              <a:t>Sources: docs/audit-trail.md, services/evidence_ledger/README.md, docs/architecture.md sections 5 and 8, docs/screenshots/evidence-verified-1440x900-dark.png, `make verify-package` (PASS, README 'What was exercised').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privacy is structural, not a policy: the platform sees pseudonymous tokens and keyed hashes, the hub never holds the federation key, and the ledger refuses PII-shaped payloads. Audit is never awaited on the fraud path (outbox, circuit breaker, sweeper). Fail-safe: missing or tampered model artifacts fall back to rules; antibody bootstrap fails open (weaker protection, never a blocked payment); holds are flagged overdue, never auto-resolved.</a:t>
            </a:r>
          </a:p>
          <a:p/>
          <a:p>
            <a:r>
              <a:t>Review claim: README 'Development workflow' states one task at a time with an independent adversarial review after each and fix rounds until findings were closed. The about-15,000-mutation ledger attack campaign figure is from docs/judging-map.md (Technical excellence); the review ledger itself is a git-ignored working file under .superpowers/, so we give no per-service finding counts here. Test counts, if asked: about 1,490 Python tests plus 172 console unit tests, make test-all 13 of 13 (README).</a:t>
            </a:r>
          </a:p>
          <a:p/>
          <a:p>
            <a:r>
              <a:t>Sources: docs/architecture.md sections 4, 6 and 8; docs/audit-trail.md; docs/judging-map.md;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seven pages, three audiences. The officer sees the map, ring graph and a takedown what-if; the analyst works a deadline-sorted hold queue with countdown rings and a guarded resolve; the citizen pastes a message and gets one plain-language verdict in English, Hindi, Tamil or Bengali, nothing stored. 'Safe' only means no clear scam cues found.</a:t>
            </a:r>
          </a:p>
          <a:p/>
          <a:p>
            <a:r>
              <a:t>Accessibility: WCAG AA tokens; axe-core (wcag2a/aa, 2.1 a/aa) on all 7 pages in dark and light reported 0 serious or critical violations (web-console F2 report, a git-ignored working file). Automated rules only; the Playwright e2e and axe checks were not re-run in the final delivery pass (README 'What was and was not exercised'). Citizen reason lists stay in English in this build.</a:t>
            </a:r>
          </a:p>
          <a:p/>
          <a:p>
            <a:r>
              <a:t>Sources: README.md (UX), docs/judging-map.md (UX table), web-console/README.md, .superpowers/sdd/2026-10-07-scam-immune-system/web-console-f2-report.md; screenshots command-1440x900-dark, analyst-1440x900-dark, citizen-verdict-ta-390x844-dark (top 844 px).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ordering is by payer: txn.events is keyed by payer_token and call.events/call.risk by victim_token so a call's risk meets that payer's transactions in order; antibody.published is keyed by key_hash so a revoke cannot overtake its create. Scorers are stateless apart from Redis and scale by consumer-group partitions; hub and ledger scale as replicas over one Postgres; graph-twin is a single replica (no sharding). Latency: consumer-path p50 about 7 ms and p99 about 14 ms per transaction with fakeredis stores (txn-guard README); the benchmark JSON's own latency_ms block reads p50 5.3 ms, p99 15.3 ms over 2,242 decisions. Target p99 under 300 ms. Not load-tested against real Kafka, Redis or Postgres.</a:t>
            </a:r>
          </a:p>
          <a:p/>
          <a:p>
            <a:r>
              <a:t>Sources: docs/architecture.md section 7 (Deployment notes) and section 2; contracts/scam_contracts/topics.py (via architecture.md); services/txn_guard/README.md; infra/docker-compose.yml (profiles); README.md (What was and was not exercised).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be direct about what the numbers are: a regression and ablation harness on simulator data, not real-world performance. NEFT has no scam transactions so its recall is undefined and its false-positive figure is benign traffic only. The analyst is an assumed oracle with a 60 s delay; poisoning is not simulated. The docker stack was validated with compose config only. Next steps are the pilot path: real data integration (call metadata, bank transaction feeds), NEFT scam data, graph-twin on live traffic (it is a single replica today), counsel review of the evidence package and the Section 63 certificate template, then one bank.</a:t>
            </a:r>
          </a:p>
          <a:p/>
          <a:p>
            <a:r>
              <a:t>Sources: README.md (Honest limitations), docs/benchmark_report.md (Limitations), docs/judging-map.md caveat columns, docs/architecture.md.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one detection, every bank protected, every action auditable. Everything is simulated and says so. make demo builds the console and serves it at http://localhost:8080 (README quickstart). A recorded hero run with captions is in docs/demo/ (no narration; the script is docs/demo-script.md). Repository URL is a placeholder to fill in before sharing.</a:t>
            </a:r>
          </a:p>
          <a:p/>
          <a:p>
            <a:r>
              <a:t>Sources: README.md (60-second quickstart), docs/demo-script.md, docs/demo/README.md.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00">
                <a:solidFill>
                  <a:srgbClr val="34D399"/>
                </a:solidFill>
                <a:latin typeface="Arial"/>
              </a:rPr>
              <a:t>DIGITAL PUBLIC SAFETY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E8ECF4"/>
                </a:solidFill>
                <a:latin typeface="Arial"/>
              </a:rPr>
              <a:t>ScamShield Immune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A78BFA"/>
                </a:solidFill>
                <a:latin typeface="Arial"/>
              </a:rPr>
              <a:t>One bank's detection protects every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Reflex, shared memory and a fraud-network brain, with evidence a third party can verify.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1208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>
                <a:solidFill>
                  <a:srgbClr val="F59E0B"/>
                </a:solidFill>
                <a:latin typeface="Arial"/>
              </a:rPr>
              <a:t>SIMULATED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24865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F819B"/>
                </a:solidFill>
                <a:latin typeface="Arial"/>
              </a:rPr>
              <a:t>Benchmark seed 42, hero run seed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7376" y="1668208"/>
            <a:ext cx="5276088" cy="3338703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23072"/>
            <a:ext cx="516636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Reactive investigation loses to scams that move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7393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43F5E"/>
                </a:solidFill>
                <a:latin typeface="Arial"/>
              </a:rPr>
              <a:t>1.14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893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complaints, India,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9E0B"/>
                </a:solidFill>
                <a:latin typeface="Arial"/>
              </a:rPr>
              <a:t>Rs 1,776 crore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5485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digital-arrest scams, first nine months of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330952" cy="3063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ECF4"/>
                </a:solidFill>
                <a:latin typeface="Arial"/>
              </a:rPr>
              <a:t>Why it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Money leaves before any report.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Banks see only their own customers.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Mules are reused on the next victim.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0C8"/>
                </a:solidFill>
                <a:latin typeface="Arial"/>
              </a:rPr>
              <a:t>Source: challenge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An immune system for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324612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123B3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Bank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34D399"/>
                </a:solidFill>
                <a:latin typeface="Arial"/>
              </a:rPr>
              <a:t>detects and holds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2560320"/>
            <a:ext cx="1371600" cy="594360"/>
          </a:xfrm>
          <a:prstGeom prst="line">
            <a:avLst/>
          </a:prstGeom>
          <a:ln w="25400">
            <a:solidFill>
              <a:srgbClr val="34D39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274320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A1F52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9077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Antibody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735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78BFA"/>
                </a:solidFill>
                <a:latin typeface="Arial"/>
              </a:rPr>
              <a:t>keyed hashes only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315200" y="2560320"/>
            <a:ext cx="1371600" cy="502920"/>
          </a:xfrm>
          <a:prstGeom prst="line">
            <a:avLst/>
          </a:prstGeom>
          <a:ln w="25400">
            <a:solidFill>
              <a:srgbClr val="A78B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3337560"/>
            <a:ext cx="1371600" cy="685800"/>
          </a:xfrm>
          <a:prstGeom prst="line">
            <a:avLst/>
          </a:prstGeom>
          <a:ln w="25400">
            <a:solidFill>
              <a:srgbClr val="A78BF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210312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3A1A2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3042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Bank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3F5E"/>
                </a:solidFill>
                <a:latin typeface="Arial"/>
              </a:rPr>
              <a:t>blocks the same mule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56616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3A1A2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76732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Bank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114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3F5E"/>
                </a:solidFill>
                <a:latin typeface="Arial"/>
              </a:rPr>
              <a:t>blocks it too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Detect once, protect everywhere. Hold and verify before the money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Three layers, a citizen shield and evidence you can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331720" cy="324612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819B"/>
                </a:solidFill>
                <a:latin typeface="Arial"/>
              </a:rPr>
              <a:t>SIGNALS (SIMULATED)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Calls and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965960" cy="64008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UPI / IMPS / NEFT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200400"/>
            <a:ext cx="320040" cy="0"/>
          </a:xfrm>
          <a:prstGeom prst="line">
            <a:avLst/>
          </a:prstGeom>
          <a:ln w="25400">
            <a:solidFill>
              <a:srgbClr val="9FB0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1600200"/>
            <a:ext cx="1783080" cy="324612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100">
                <a:solidFill>
                  <a:srgbClr val="34D399"/>
                </a:solidFill>
                <a:latin typeface="Arial"/>
              </a:rPr>
              <a:t>REFLEX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860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CF4"/>
                </a:solidFill>
                <a:latin typeface="Arial"/>
              </a:rPr>
              <a:t>call-guard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CF4"/>
                </a:solidFill>
                <a:latin typeface="Arial"/>
              </a:rPr>
              <a:t>txn-guard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00400"/>
            <a:ext cx="1508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FB0C8"/>
                </a:solidFill>
                <a:latin typeface="Arial"/>
              </a:rPr>
              <a:t>Hold and verify in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600200"/>
            <a:ext cx="1783080" cy="324612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783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100">
                <a:solidFill>
                  <a:srgbClr val="A78BFA"/>
                </a:solidFill>
                <a:latin typeface="Arial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2860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CF4"/>
                </a:solidFill>
                <a:latin typeface="Arial"/>
              </a:rPr>
              <a:t>antibody-hub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200400"/>
            <a:ext cx="1508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FB0C8"/>
                </a:solidFill>
                <a:latin typeface="Arial"/>
              </a:rPr>
              <a:t>Shared keyed-hash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600200"/>
            <a:ext cx="1783080" cy="324612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7830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spc="100">
                <a:solidFill>
                  <a:srgbClr val="F59E0B"/>
                </a:solidFill>
                <a:latin typeface="Arial"/>
              </a:rPr>
              <a:t>BRAIN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28600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ECF4"/>
                </a:solidFill>
                <a:latin typeface="Arial"/>
              </a:rPr>
              <a:t>graph-twin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200400"/>
            <a:ext cx="1508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FB0C8"/>
                </a:solidFill>
                <a:latin typeface="Arial"/>
              </a:rPr>
              <a:t>Rings and takedown what-if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98280" y="3200400"/>
            <a:ext cx="320040" cy="0"/>
          </a:xfrm>
          <a:prstGeom prst="line">
            <a:avLst/>
          </a:prstGeom>
          <a:ln w="25400">
            <a:solidFill>
              <a:srgbClr val="9FB0C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1600200"/>
            <a:ext cx="2176272" cy="324612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1737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F819B"/>
                </a:solidFill>
                <a:latin typeface="Arial"/>
              </a:rPr>
              <a:t>PEOPLE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214884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Arial"/>
              </a:rPr>
              <a:t>Citizen shield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788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Arial"/>
              </a:rPr>
              <a:t>Analyst console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34290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Arial"/>
              </a:rPr>
              <a:t>Command centre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5000"/>
            </a:avLst>
          </a:prstGeom>
          <a:solidFill>
            <a:srgbClr val="0F2A3A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00">
                <a:solidFill>
                  <a:srgbClr val="22D3EE"/>
                </a:solidFill>
                <a:latin typeface="Arial"/>
              </a:rPr>
              <a:t>EVIDENCE LEDGER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8ECF4"/>
                </a:solidFill>
                <a:latin typeface="Arial"/>
              </a:rPr>
              <a:t>Hash chain, signed checkpoints, signed package, offline verify.py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THE HERO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One constructed case, eight steps, 71 seconds at 1x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1" y="1408176"/>
            <a:ext cx="5522976" cy="3493008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5" y="1463040"/>
            <a:ext cx="5413248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8484" y="1408176"/>
            <a:ext cx="5522976" cy="3493008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348" y="1463040"/>
            <a:ext cx="5413248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1947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Bank B blocks the same mule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91947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Victim B protected, evidence sealed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Call begins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47672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9112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Call flagged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38144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Transfer held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45736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5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5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Analyst confirms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Antibody shared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Bank B blocks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42832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Cash-out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41864" y="5349240"/>
            <a:ext cx="1307592" cy="7772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33304" y="5413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4D399"/>
                </a:solidFill>
                <a:latin typeface="Arial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3304" y="5669280"/>
            <a:ext cx="1124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8ECF4"/>
                </a:solidFill>
                <a:latin typeface="Arial"/>
              </a:rPr>
              <a:t>Evidence sealed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Real services and models, a simulated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6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1672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/>
                <a:gridCol w="4572000"/>
                <a:gridCol w="3959352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8ECF4"/>
                          </a:solidFill>
                          <a:latin typeface="Arial"/>
                        </a:rPr>
                        <a:t>Piece</a:t>
                      </a:r>
                    </a:p>
                  </a:txBody>
                  <a:tcPr marL="164592" anchor="ctr"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4D399"/>
                          </a:solidFill>
                          <a:latin typeface="Arial"/>
                        </a:rPr>
                        <a:t>Real</a:t>
                      </a:r>
                    </a:p>
                  </a:txBody>
                  <a:tcPr marL="164592" anchor="ctr"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59E0B"/>
                          </a:solidFill>
                          <a:latin typeface="Arial"/>
                        </a:rPr>
                        <a:t>Simulated</a:t>
                      </a:r>
                    </a:p>
                  </a:txBody>
                  <a:tcPr marL="164592" anchor="ctr">
                    <a:solidFill>
                      <a:srgbClr val="1B233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8ECF4"/>
                          </a:solidFill>
                          <a:latin typeface="Arial"/>
                        </a:rPr>
                        <a:t>Call scoring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clf-v1 classifier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scripts, speakers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8ECF4"/>
                          </a:solidFill>
                          <a:latin typeface="Arial"/>
                        </a:rPr>
                        <a:t>Txn scoring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gbm-v1 model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accounts, transfers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8ECF4"/>
                          </a:solidFill>
                          <a:latin typeface="Arial"/>
                        </a:rPr>
                        <a:t>Threat memory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hub store, outbox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two banks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8ECF4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Ed25519 chain, verifier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simulated clock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8ECF4"/>
                          </a:solidFill>
                          <a:latin typeface="Arial"/>
                        </a:rPr>
                        <a:t>Analyst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resolve API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8ECF4"/>
                          </a:solidFill>
                          <a:latin typeface="Arial"/>
                        </a:rPr>
                        <a:t>60 s oracle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make demo runs the real services in one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Honest results: no false holds, with a weak NEFT 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7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91056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Arial"/>
              </a:rPr>
              <a:t>100.0%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6730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Precision, 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4162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95% CI 99.3 to 100.0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91056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Arial"/>
              </a:rPr>
              <a:t>82.6%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6730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Recall, scam txns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4162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95% CI 79.6 to 85.3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651760" cy="132588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91056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Arial"/>
              </a:rPr>
              <a:t>0.000%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6730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Benign held (FPR)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4162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upper CI 0.018%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463040"/>
            <a:ext cx="2724912" cy="132588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591056"/>
            <a:ext cx="23591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59E0B"/>
                </a:solidFill>
                <a:latin typeface="Arial"/>
              </a:rPr>
              <a:t>+6h 29m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067306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Mean lead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41626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5 of 5 before 10th victim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71800"/>
            <a:ext cx="5440680" cy="324612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44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CF4"/>
                </a:solidFill>
                <a:latin typeface="Arial"/>
              </a:rPr>
              <a:t>Benign false-positive rate by rail (%)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40080" y="3337560"/>
          <a:ext cx="52578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30906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59E0B"/>
                </a:solidFill>
                <a:latin typeface="Arial"/>
              </a:rPr>
              <a:t>NEFT: no scam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971800"/>
            <a:ext cx="5440680" cy="324612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044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CF4"/>
                </a:solidFill>
                <a:latin typeface="Arial"/>
              </a:rPr>
              <a:t>Ablations: recall (%), axis from 50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291072" y="3337560"/>
          <a:ext cx="525780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HARD-CASE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Hard on purpose: antibodies must land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CF4"/>
                </a:solidFill>
                <a:latin typeface="Arial"/>
              </a:rPr>
              <a:t>Victim B's first transfer, 40 hero seeds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874519"/>
          <a:ext cx="525780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99632" y="146304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54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ECF4"/>
                </a:solidFill>
                <a:latin typeface="Arial"/>
              </a:rPr>
              <a:t>Recall (%) vs analyst confirmation delay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91072" y="1874519"/>
          <a:ext cx="525780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8ECF4"/>
                </a:solidFill>
                <a:latin typeface="Arial"/>
              </a:rPr>
              <a:t>Seasoned mule, off-script call: the model alone allowed 39 of 40; with the antibody all 40 were held.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8ECF4"/>
                </a:solidFill>
                <a:latin typeface="Arial"/>
              </a:rPr>
              <a:t>At a 24 h confirmation delay the benefit is gone (94.5%).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Evidence a third party can check without trusting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425320"/>
            <a:ext cx="6784848" cy="4281678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0185"/>
            <a:ext cx="6675120" cy="41719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463040"/>
            <a:ext cx="4096512" cy="1298448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002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00">
                <a:solidFill>
                  <a:srgbClr val="34D399"/>
                </a:solidFill>
                <a:latin typeface="Arial"/>
              </a:rPr>
              <a:t>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938528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CF4"/>
                </a:solidFill>
                <a:latin typeface="Arial"/>
              </a:rPr>
              <a:t>Entries unaltered, in order, signed under a pinned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907792"/>
            <a:ext cx="4096512" cy="1298448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04495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00">
                <a:solidFill>
                  <a:srgbClr val="F43F5E"/>
                </a:solidFill>
                <a:latin typeface="Arial"/>
              </a:rPr>
              <a:t>DOES NOT 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38328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CF4"/>
                </a:solidFill>
                <a:latin typeface="Arial"/>
              </a:rPr>
              <a:t>That events were true, or legally admissible.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352544"/>
            <a:ext cx="4096512" cy="1298448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489704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00">
                <a:solidFill>
                  <a:srgbClr val="22D3EE"/>
                </a:solidFill>
                <a:latin typeface="Arial"/>
              </a:rPr>
              <a:t>VERIFY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4828031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ECF4"/>
                </a:solidFill>
                <a:latin typeface="Courier New"/>
              </a:rPr>
              <a:t>python -I -S verify.py --trusted-pubkey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0C8"/>
                </a:solidFill>
                <a:latin typeface="Arial"/>
              </a:rPr>
              <a:t>Payloads hold ids, reason codes and amount buckets only; PII-shaped entries are quarantined.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PRIVACY AND SAFETY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Tokens and hashes only, and audit never blocks an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79192" cy="23774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Tokens, not identities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Keyed hashes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554480"/>
            <a:ext cx="2679192" cy="23774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PII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743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No amounts or free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554480"/>
            <a:ext cx="2679192" cy="23774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Never on the hot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743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Alerts publish before audit.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1554480"/>
            <a:ext cx="2679192" cy="237744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1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8ECF4"/>
                </a:solidFill>
                <a:latin typeface="Arial"/>
              </a:rPr>
              <a:t>Fail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27432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Rules fallback; no auto-release.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0F2A3A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00">
                <a:solidFill>
                  <a:srgbClr val="22D3EE"/>
                </a:solidFill>
                <a:latin typeface="Arial"/>
              </a:rPr>
              <a:t>INDEPENDENT ADVERSARIAL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8ECF4"/>
                </a:solidFill>
                <a:latin typeface="Arial"/>
              </a:rPr>
              <a:t>Independent adversarial review of each service; about 15,000 ledger mutations, none passed.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THREE AUDIENCES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Command centre, analyst console and citizen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411033"/>
            <a:ext cx="4270248" cy="2710052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5897"/>
            <a:ext cx="4160520" cy="26003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37176" y="1411033"/>
            <a:ext cx="4270248" cy="2710052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65897"/>
            <a:ext cx="4160520" cy="26003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830406" y="1271016"/>
            <a:ext cx="1461826" cy="3035808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270" y="1325880"/>
            <a:ext cx="1352098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2062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Command centre: map, ring, takedown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2062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Analyst: deadline-sorted hold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4407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Citizen verdict, Tamil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Arial"/>
              </a:rPr>
              <a:t>English, Hindi, Tamil, Bengali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89204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22D3EE"/>
                </a:solidFill>
                <a:latin typeface="Arial"/>
              </a:rPr>
              <a:t>axe-core: 0 serious or critical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892040"/>
            <a:ext cx="3593592" cy="457200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A78BFA"/>
                </a:solidFill>
                <a:latin typeface="Arial"/>
              </a:rPr>
              <a:t>Keyboard shortcuts, palette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FB0C8"/>
                </a:solidFill>
                <a:latin typeface="Arial"/>
              </a:rPr>
              <a:t>Risk is never shown by colour alone; one verdict per screen for citizens.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SCALABILITY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Designed to scale by partition key; not load-tested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12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585216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896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164592" anchor="ctr">
                    <a:solidFill>
                      <a:srgbClr val="1B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Arial"/>
                        </a:rPr>
                        <a:t>Partition key</a:t>
                      </a:r>
                    </a:p>
                  </a:txBody>
                  <a:tcPr marL="164592" anchor="ctr">
                    <a:solidFill>
                      <a:srgbClr val="1B23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Courier New"/>
                        </a:rPr>
                        <a:t>txn.events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Arial"/>
                        </a:rPr>
                        <a:t>payer_token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Courier New"/>
                        </a:rPr>
                        <a:t>call.events, call.risk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Arial"/>
                        </a:rPr>
                        <a:t>victim_token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Courier New"/>
                        </a:rPr>
                        <a:t>txn.decisions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Arial"/>
                        </a:rPr>
                        <a:t>txn_id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Courier New"/>
                        </a:rPr>
                        <a:t>antibody.published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CF4"/>
                          </a:solidFill>
                          <a:latin typeface="Arial"/>
                        </a:rPr>
                        <a:t>key_hash</a:t>
                      </a:r>
                    </a:p>
                  </a:txBody>
                  <a:tcPr marL="164592" anchor="ctr">
                    <a:solidFill>
                      <a:srgbClr val="151B2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1554480"/>
            <a:ext cx="2423160" cy="13716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682495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34D399"/>
                </a:solidFill>
                <a:latin typeface="Arial"/>
              </a:rPr>
              <a:t>7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15874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p50 per 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433066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p99 about 14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554480"/>
            <a:ext cx="2313432" cy="13716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59" y="1682495"/>
            <a:ext cx="1947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59" y="215874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ECF4"/>
                </a:solidFill>
                <a:latin typeface="Arial"/>
              </a:rPr>
              <a:t>compose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59" y="2433066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FB0C8"/>
                </a:solidFill>
                <a:latin typeface="Arial"/>
              </a:rPr>
              <a:t>core, stack, observability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154680"/>
            <a:ext cx="4873752" cy="109728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42900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CF4"/>
                </a:solidFill>
                <a:latin typeface="Arial"/>
              </a:rPr>
              <a:t>Audit outbox; stateless scorers.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3A2A0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ECF4"/>
                </a:solidFill>
                <a:latin typeface="Arial"/>
              </a:rPr>
              <a:t>Latency is in-process. The Docker stack was validated, not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34D399"/>
                </a:solidFill>
                <a:latin typeface="Arial"/>
              </a:rPr>
              <a:t>LIMITS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8ECF4"/>
                </a:solidFill>
                <a:latin typeface="Arial"/>
              </a:rPr>
              <a:t>What we do not know yet,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Simulation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F59E0B"/>
                </a:solidFill>
                <a:latin typeface="Arial"/>
              </a:rPr>
              <a:t>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Simulator data only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No NEFT scam data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Modelled analyst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Stack not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3566160"/>
          </a:xfrm>
          <a:prstGeom prst="roundRect">
            <a:avLst>
              <a:gd name="adj" fmla="val 5000"/>
            </a:avLst>
          </a:prstGeom>
          <a:solidFill>
            <a:srgbClr val="151B28">
              <a:alpha val="60000"/>
            </a:srgbClr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91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>
                <a:solidFill>
                  <a:srgbClr val="34D399"/>
                </a:solidFill>
                <a:latin typeface="Arial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14884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1  Real data integration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2  NEFT scam data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3  Graph-twin on live traffic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4  Legal review of evidence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E8ECF4"/>
                </a:solidFill>
                <a:latin typeface="Arial"/>
              </a:rPr>
              <a:t>5  One-bank pilot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85455" y="641908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F819B"/>
                </a:solidFill>
                <a:latin typeface="Arial"/>
              </a:rPr>
              <a:t>ScamShield Immune   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200">
                <a:solidFill>
                  <a:srgbClr val="34D399"/>
                </a:solidFill>
                <a:latin typeface="Arial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8ECF4"/>
                </a:solidFill>
                <a:latin typeface="Arial"/>
              </a:rPr>
              <a:t>Run it in one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3840480" cy="82296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31012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4D399"/>
                </a:solidFill>
                <a:latin typeface="Courier New"/>
              </a:rPr>
              <a:t>make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Open http://localhost:8080, choose Officer, press Play.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Repository: &lt;repo URL placeholder&gt;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A78BFA"/>
                </a:solidFill>
                <a:latin typeface="Arial"/>
              </a:rPr>
              <a:t>Thank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8932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B0F1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SIMULATED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6016" y="1336738"/>
            <a:ext cx="4727448" cy="2995802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4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91602"/>
            <a:ext cx="4617720" cy="2886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